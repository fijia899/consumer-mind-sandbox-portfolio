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9df8d0e874003" /><Relationship Type="http://schemas.openxmlformats.org/officeDocument/2006/relationships/extended-properties" Target="/docProps/app.xml" Id="R5587df4e29b74dc0" /><Relationship Type="http://schemas.openxmlformats.org/officeDocument/2006/relationships/officeDocument" Target="/ppt/presentation.xml" Id="R53b9d6fdf18740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4bee4c45a40cc"/>
  </p:sldMasterIdLst>
  <p:notesMasterIdLst>
    <p:notesMasterId xmlns:r="http://schemas.openxmlformats.org/officeDocument/2006/relationships" r:id="R52fd137a73714ad4"/>
  </p:notesMasterIdLst>
  <p:sldIdLst>
    <p:sldId xmlns:r="http://schemas.openxmlformats.org/officeDocument/2006/relationships" id="256" r:id="R5e3081dd61ec434b"/>
    <p:sldId xmlns:r="http://schemas.openxmlformats.org/officeDocument/2006/relationships" id="257" r:id="Rb1e9efc1814541ca"/>
    <p:sldId xmlns:r="http://schemas.openxmlformats.org/officeDocument/2006/relationships" id="258" r:id="Rc46e987ec0714fa0"/>
    <p:sldId xmlns:r="http://schemas.openxmlformats.org/officeDocument/2006/relationships" id="259" r:id="Ra9c8845efea040cc"/>
    <p:sldId xmlns:r="http://schemas.openxmlformats.org/officeDocument/2006/relationships" id="260" r:id="R6dd07542102647c0"/>
    <p:sldId xmlns:r="http://schemas.openxmlformats.org/officeDocument/2006/relationships" id="261" r:id="R42977fa2e0e846c2"/>
    <p:sldId xmlns:r="http://schemas.openxmlformats.org/officeDocument/2006/relationships" id="262" r:id="Rfe423a9c14f543ef"/>
    <p:sldId xmlns:r="http://schemas.openxmlformats.org/officeDocument/2006/relationships" id="263" r:id="R8be4fd690a1c449e"/>
    <p:sldId xmlns:r="http://schemas.openxmlformats.org/officeDocument/2006/relationships" id="264" r:id="R3a43f3072b3a491c"/>
    <p:sldId xmlns:r="http://schemas.openxmlformats.org/officeDocument/2006/relationships" id="265" r:id="Reddd41ab5ba54e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9d86cc2fa4d0d" /><Relationship Type="http://schemas.openxmlformats.org/officeDocument/2006/relationships/slideMaster" Target="/ppt/slideMasters/slideMaster1.xml" Id="Rd7a4bee4c45a40cc" /><Relationship Type="http://schemas.openxmlformats.org/officeDocument/2006/relationships/notesMaster" Target="/ppt/notesMasters/notesMaster1.xml" Id="R52fd137a73714ad4" /><Relationship Type="http://schemas.openxmlformats.org/officeDocument/2006/relationships/presProps" Target="/ppt/presProps.xml" Id="R985790800b154a14" /><Relationship Type="http://schemas.openxmlformats.org/officeDocument/2006/relationships/tableStyles" Target="/ppt/tableStyles.xml" Id="R302ca47501b2452b" /><Relationship Type="http://schemas.openxmlformats.org/officeDocument/2006/relationships/slide" Target="/ppt/slides/slide1.xml" Id="R5e3081dd61ec434b" /><Relationship Type="http://schemas.openxmlformats.org/officeDocument/2006/relationships/slide" Target="/ppt/slides/slide2.xml" Id="Rb1e9efc1814541ca" /><Relationship Type="http://schemas.openxmlformats.org/officeDocument/2006/relationships/slide" Target="/ppt/slides/slide3.xml" Id="Rc46e987ec0714fa0" /><Relationship Type="http://schemas.openxmlformats.org/officeDocument/2006/relationships/slide" Target="/ppt/slides/slide4.xml" Id="Ra9c8845efea040cc" /><Relationship Type="http://schemas.openxmlformats.org/officeDocument/2006/relationships/slide" Target="/ppt/slides/slide5.xml" Id="R6dd07542102647c0" /><Relationship Type="http://schemas.openxmlformats.org/officeDocument/2006/relationships/slide" Target="/ppt/slides/slide6.xml" Id="R42977fa2e0e846c2" /><Relationship Type="http://schemas.openxmlformats.org/officeDocument/2006/relationships/slide" Target="/ppt/slides/slide7.xml" Id="Rfe423a9c14f543ef" /><Relationship Type="http://schemas.openxmlformats.org/officeDocument/2006/relationships/slide" Target="/ppt/slides/slide8.xml" Id="R8be4fd690a1c449e" /><Relationship Type="http://schemas.openxmlformats.org/officeDocument/2006/relationships/slide" Target="/ppt/slides/slide9.xml" Id="R3a43f3072b3a491c" /><Relationship Type="http://schemas.openxmlformats.org/officeDocument/2006/relationships/slide" Target="/ppt/slides/slide10.xml" Id="Reddd41ab5ba54e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e0ad40a36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758f50ea14bd3" /><Relationship Type="http://schemas.openxmlformats.org/officeDocument/2006/relationships/notesMaster" Target="/ppt/notesMasters/notesMaster1.xml" Id="Rab2cdcbb7333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57294a40884127" /><Relationship Type="http://schemas.openxmlformats.org/officeDocument/2006/relationships/notesMaster" Target="/ppt/notesMasters/notesMaster1.xml" Id="Rf19c85f6838d48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4b34de7ca548ff" /><Relationship Type="http://schemas.openxmlformats.org/officeDocument/2006/relationships/notesMaster" Target="/ppt/notesMasters/notesMaster1.xml" Id="Rac0eb642f929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3bcb914e54da9" /><Relationship Type="http://schemas.openxmlformats.org/officeDocument/2006/relationships/notesMaster" Target="/ppt/notesMasters/notesMaster1.xml" Id="R94f0a7608c424e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0fb3494e284e21" /><Relationship Type="http://schemas.openxmlformats.org/officeDocument/2006/relationships/notesMaster" Target="/ppt/notesMasters/notesMaster1.xml" Id="Ra06cf681dce24e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3e673e5de4a57" /><Relationship Type="http://schemas.openxmlformats.org/officeDocument/2006/relationships/notesMaster" Target="/ppt/notesMasters/notesMaster1.xml" Id="Rea7a871cc44d49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373bc55afc414e" /><Relationship Type="http://schemas.openxmlformats.org/officeDocument/2006/relationships/notesMaster" Target="/ppt/notesMasters/notesMaster1.xml" Id="R7e15f0a08048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83ec14c9ba421a" /><Relationship Type="http://schemas.openxmlformats.org/officeDocument/2006/relationships/notesMaster" Target="/ppt/notesMasters/notesMaster1.xml" Id="R481b0fb7e5184d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fdd3c96e594dcf" /><Relationship Type="http://schemas.openxmlformats.org/officeDocument/2006/relationships/notesMaster" Target="/ppt/notesMasters/notesMaster1.xml" Id="R874b68d0d9bf48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cf84af67a64b2b" /><Relationship Type="http://schemas.openxmlformats.org/officeDocument/2006/relationships/notesMaster" Target="/ppt/notesMasters/notesMaster1.xml" Id="R1e470eab410f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 BP 的主体是消费者心智沙盘，而不是某一个垂直 App。抚心只是可接入沙盘的示例应用。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问题陈述是产品假设，需通过目标客户访谈进一步确认。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示例使用抚心场景，仅用于说明沙盘机制，不构成心理治疗或效果承诺。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商业模式、客户付费和壁垒均为待验证假设，未使用虚构市场规模或收入数据。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结尾：消费者心智沙盘是独立产品；抚心是首个验证场景。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c4a89807a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10d380f2145db" /><Relationship Type="http://schemas.openxmlformats.org/officeDocument/2006/relationships/slideLayout" Target="/ppt/slideLayouts/slideLayout1.xml" Id="R7da557c29bae48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a557c29bae48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b4e95d7de44f1" /><Relationship Type="http://schemas.openxmlformats.org/officeDocument/2006/relationships/notesSlide" Target="/ppt/notesSlides/notesSlide1.xml" Id="Rb6bfd1082bbc42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aa7aa74174ba2" /><Relationship Type="http://schemas.openxmlformats.org/officeDocument/2006/relationships/notesSlide" Target="/ppt/notesSlides/notesSlide2.xml" Id="Raa487399b3394b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0b25edb9b4b5e" /><Relationship Type="http://schemas.openxmlformats.org/officeDocument/2006/relationships/notesSlide" Target="/ppt/notesSlides/notesSlide3.xml" Id="R3d63bc78fc10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e8ff277474250" /><Relationship Type="http://schemas.openxmlformats.org/officeDocument/2006/relationships/notesSlide" Target="/ppt/notesSlides/notesSlide4.xml" Id="R8df5d981f0994a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9a5c0c4954d85" /><Relationship Type="http://schemas.openxmlformats.org/officeDocument/2006/relationships/notesSlide" Target="/ppt/notesSlides/notesSlide5.xml" Id="R5baddc790798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87e6f93f94fa8" /><Relationship Type="http://schemas.openxmlformats.org/officeDocument/2006/relationships/notesSlide" Target="/ppt/notesSlides/notesSlide6.xml" Id="R23fbca6e185349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b63cdf84e4c8f" /><Relationship Type="http://schemas.openxmlformats.org/officeDocument/2006/relationships/notesSlide" Target="/ppt/notesSlides/notesSlide7.xml" Id="Rf35cd824c52f40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808223aac4aa5" /><Relationship Type="http://schemas.openxmlformats.org/officeDocument/2006/relationships/notesSlide" Target="/ppt/notesSlides/notesSlide8.xml" Id="R0aa30157cd7143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9b7c977e942e8" /><Relationship Type="http://schemas.openxmlformats.org/officeDocument/2006/relationships/notesSlide" Target="/ppt/notesSlides/notesSlide9.xml" Id="Ra8e847558c6e40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1290475984d19" /><Relationship Type="http://schemas.openxmlformats.org/officeDocument/2006/relationships/notesSlide" Target="/ppt/notesSlides/notesSlide10.xml" Id="R4a7f8706af0945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9C87E-618D-4F3C-8443-B99D31AC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14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0F890-C901-4B97-98DE-EF4A19B9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29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CONSUMER MIND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732EF-6300-44C9-A6E2-3A1C3202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809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把消费者研究</a:t>
            </a:r>
          </a:p>
          <a:p xmlns:a="http://schemas.openxmlformats.org/drawingml/2006/main">
            <a:pPr>
              <a:defRPr sz="352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变成可运行的决策工具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948BF-2A14-4A0C-ACF2-FBA7941D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面向产品、内容与增长团队的心智模拟平台</a:t>
            </a:r>
          </a:p>
          <a:p xmlns:a="http://schemas.openxmlformats.org/drawingml/2006/main">
            <a:pPr>
              <a:defRPr sz="157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创业项目 BP｜独立产品方案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CC8FF-E38C-47D1-A800-973E75E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286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AE243-D199-4368-8DB3-405C98B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输入一个方案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F07F8-CEEA-42F0-A2E4-DE0B12E9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看到不同用户</a:t>
            </a:r>
          </a:p>
          <a:p xmlns:a="http://schemas.openxmlformats.org/drawingml/2006/main">
            <a:pPr>
              <a:defRPr sz="18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如何被触发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5CF4-E7B9-479A-8FA3-796336A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再决定先验证什么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CB272-37FA-4ED3-BBE1-E1C33EA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545677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CD8CB-4BD1-49E5-8965-C9C80D1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01｜问题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1CD8-6D13-428D-AE55-CDBCD42E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用户研究有资料，团队却难以持续使用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9F071-86FF-4098-9B89-F29E727E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研究资产散落在访谈、文档和会议记录里，方案仍靠经验反复试错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E2647-7B4F-4381-B459-F3DF7B8E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EE544-A18A-4BEF-9D74-68AA381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资料分散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53FBF-9138-44E8-A7C7-C82356E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访谈、问卷、客服反馈各自保存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C245E-3446-4377-AE12-7A978A2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A2D3F-4537-459A-92F9-F0AF8610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用户被扁平化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3201-DE24-40B9-A71B-23DF9E7D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只看年龄、城市，忽略动机和阻力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F1008-2850-4D13-A5DD-4E155B82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C4D6-C9F1-4F82-A1CA-CFC41244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方案难比较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82A69-D034-4FB0-A97C-1CC790F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文案、功能、价格缺少统一测试场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7A29A-C567-4318-8EC7-6546A89B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51679-004E-492D-8626-3D09DFA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反馈难复用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E2AB9-AA95-4D4C-ADDE-3A21E51B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一次研究结束后，结论很难进入下一次决策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36B3A-6D04-4F8D-A086-7BA4127B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06F1B-ACDE-4976-84DC-E1CA0479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911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机会：把“消费者为什么这样反应”变成团队可以反复运行的模型。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1D296-BE2F-4A22-B4FA-EFB330B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1D10E-8F1D-40C9-B28C-D1835FB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6870D-5F6B-4517-9F83-2F761559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15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145AA-A3D2-4656-995A-ECC06C0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02｜客户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E92A7-4978-4DD5-B1EC-95FD594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沙盘服务需要决策的团队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3895E-46E3-4F4E-925C-D6F926B8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第一批客户不是所有企业，而是持续测试用户反应的产品和内容团队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F720F-AC35-4292-8C24-AAFDA8AE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70061-1427-45E5-98D7-A5AFFC65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产品团队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601CE-F2C3-4976-9B01-DCA4E8C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功能、流程、定价的用户反应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6DB52-7B88-4912-80B7-FD445E9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减少错误开发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99854-B72A-4396-8858-91162A93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0E425-CB08-45C1-BDC3-BF670A1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76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内容与增长团队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FFE8E-121B-4AC0-8131-6A6CF8C8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765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广告、推送、落地页的分化反应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B46EC-58E5-40D6-B2C7-A7536D4C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765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提高测试效率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F1FE7-4959-4075-B141-FF57D15F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50BD9-09FD-40EB-98A1-E7D127B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147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用户研究团队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2A7AB-BA9E-4AA8-A40A-752E2667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研究资料结构化与复用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52F75-7F67-45C4-8FAE-4C5AD7F2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147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让洞察进入决策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778F7-242D-4B65-8B9D-420DEA2A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A1570-8918-45CA-909D-05F44634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52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专业服务机构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AF125-6EA5-47C6-9401-4C709C1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529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为客户提供策略预演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6334D-CEB7-40A0-A414-D8858C91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529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增加交付深度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6CC1C-3D8B-4578-B4BB-E65C85CE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64747B"/>
                </a:solidFill>
                <a:latin typeface="Aptos"/>
                <a:ea typeface="Aptos"/>
                <a:cs typeface="Aptos"/>
              </a:rPr>
              <a:t>抚心是第一个垂直应用案例，用来验证情感健康场景。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7A822-D4E7-4789-A2D9-536F5D7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B88E2-D084-4AD2-BFF7-2022F4D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368E0-5E29-4953-AADD-42B8DB4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7926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E2317-AF6C-4EAF-916E-05E4890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03｜产品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74C8F-FF49-4C96-8FAB-D941033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一套可运行的消费者心智模型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11BA8-7D79-4F81-B70F-526FB7E7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将研究资料转为维度、Persona、场景和可比较的测试结果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5E3F9-BCBA-4C1C-A509-16CBB59E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84D0A-4018-4A5F-BA37-6199126E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维度库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1CB8C-0E74-4AE1-B46D-EBDF787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记录影响决策的动机、痛点、顾虑与触发词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FE879-7FBB-4A55-BE8A-142678E7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71701-50B1-45D5-86FB-31E730C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Persona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B0E26-7BCE-4E8E-AB18-F9001E8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组合维度，生成具有矛盾和差异的虚拟用户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CE6C2-B557-4474-9969-87A7D7C7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98C35-E510-4FC0-A905-984B9D3C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E56EB-27A4-4514-AC7F-2A029E1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定义用户处于什么情境，正在完成什么任务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A287F-769B-457E-B25F-8B98A39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903F7-7F0C-4B8F-8772-04834F85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测试引擎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3A8B0-353F-41A0-84E1-39C11A3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输入文案、功能或方案，输出反应与风险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BFEBF-3E3C-4647-B435-ED42E750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5940F-BC8D-40B5-8F1D-F60D0787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校准闭环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B0DE8-D3CB-4E4E-880A-574490F8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用真实反馈修正模型和信心等级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BE06B-BF22-4C5D-A16E-B6888FB8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可替换应用：抚心、睡眠、教育、消费品、医疗服务等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52B4A-34A0-49DA-9C4F-BEEF6A3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D4F62-1D1C-4030-B4F3-16E78970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561F4-ABD5-4765-BE44-A51156AB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8587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116DF-1874-414C-83C8-9BFC2965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04｜工作方式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E9FA4-11D7-42CD-BC0A-D0F38D9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同一方案，不同心智给出不同反应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7C3C5-ED95-4776-ADC1-7F61591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沙盘的价值在于暴露分化、形成假设，而不是承诺预测每个真实用户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830EC-70F7-4460-A4FB-F0A5E107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54087-28FC-482D-924A-5813B5D0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E1856-A914-4A9B-B157-D4422585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“今晚想联系前任吗？</a:t>
            </a:r>
          </a:p>
          <a:p xmlns:a="http://schemas.openxmlformats.org/drawingml/2006/main">
            <a:pPr>
              <a:defRPr sz="202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先陪自己撑过 10 分钟。”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2947A-A2D5-45EA-B277-70771941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一条推送，也可以换成产品功能、价格或活动方案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C9EDD-386B-460C-BD6E-292411B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BE87C-9236-4402-825A-E9A2A63F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夜间脆弱型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2A018-6262-49A3-AF6B-C29E3248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47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愿意打开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B3CF2-6DAA-41A4-9171-789C924B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即时缓解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2773E-5938-4DC1-9EBB-B85E54D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57AB8-7703-49EF-AAF5-D1BEFDE6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等待复合型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F648E-DE8D-4DAA-B921-F31E5880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犹豫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C895C-78E5-4704-BB00-D6D3D084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害怕放弃希望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19C3F-5F51-4FD9-93D4-0A74B74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CF90E-D3B2-4157-BD4D-516179DD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52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抗拒鸡汤型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70DB5-D47B-4F7D-8687-B142F259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52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先看再判断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DF809-171A-47B5-9B88-1B4AE7C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需要具体行动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7C53E-C6C2-44B2-8B6E-4612E3FC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18D6C-8EAC-4160-A503-B6F2F92B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B49CB-475B-4016-8F0D-C3E999E0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9813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253ED-7D08-4B3D-863E-82C4BE1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05｜方法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D79C6-D98F-4AA6-9A58-068EC1E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从研究资料到可执行的测试结果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65BDC-2739-432E-9346-9A30CAD3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每个结论保留来源、信心和待验证状态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805E5-763B-4C24-AB99-04B6E8D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EA130-5732-4209-B95D-88AD2491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原始资料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A1008-5004-4FFC-A840-6715F9E6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访谈、问卷、客服反馈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289D1-4497-46E1-9B8B-C7FE3551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0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4776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4776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6BD2-ACB3-45E9-8E6D-AF4219CA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27769-19CF-4F2C-BF35-73165AF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结构化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9772D-CD33-405A-B8B2-2BB9B0C0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提炼触发、动机、阻力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8B952-EFDD-4BDE-B29F-0744C0B0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4776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4776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95CDA-7310-4D47-8CB8-932EFE4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73EDC-A774-4B0B-93C9-DE199AB1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4820C-D464-4C00-AF0C-FFE001F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生成多个 Persona 并运行方案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82DEF-3257-428D-88AD-DAAA8E0C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4776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4776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511F0-DD42-4B73-A6C8-FE4FCE29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3AA9A-19D5-44EF-B460-2F4B2A16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D0397-7E58-47D9-99F4-9CA83FC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真实用户体验与行为数据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E4E17-1FE0-4519-848E-C444906D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E4776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4776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BA97D-2B70-4F51-A869-0C3B2E3E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76500"/>
            <a:ext cx="1809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E1ECE-1D68-440F-A7B3-D415E275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14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A04F3-4AE5-4226-9244-99661BA1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修正维度、规则和信心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02E5F-2E2B-4FAB-A744-A9B3D46E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9D134-A07A-4A11-8D85-7FE9541E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7205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输出不是“答案”，而是下一轮研究的优先级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8EBA6-9679-4964-B98E-C7D3264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13E1C-5DF3-430C-BDEA-CB866488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8AB58-F94E-4A8C-857E-44BDFCE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8150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FF48D-CDBA-42C5-B8AC-EED54979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06｜产品形态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60F31-3E3A-41EF-98B2-8C265D44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一个团队可以反复使用的测试工作台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3A0CC-B53F-4328-A75E-68ADF3EE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第一版围绕“方案输入—用户反应—研究结论”建立最小闭环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5858F-D2EF-45A7-B7B7-50A7E18C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3AC8-90E2-4930-A752-0F161E2A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448EF-B50C-42BC-B173-EB657A72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建立研究资产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09D3-B204-4E7D-8A42-5339619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上传或录入维度、访谈摘要、用户原话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4D977-A39F-4F26-B22B-6AEFE023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176F7-556D-46A0-8DFE-B7E0C2DB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63D74-36A3-4ED3-90BA-EEAEC76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050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生成用户群体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71F06-5346-4EBF-BED4-96F6E120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按数量和约束生成 Persona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6BC3C-0328-42AB-9933-1C5DACE7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B5ED1-6B7C-4DD8-8FDA-55D75CE9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4558C-D9A4-4223-8A39-92DC69A9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861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测试方案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A5106-4A54-491F-83DC-4FFEDEE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输入广告、功能、价格或流程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C7E6A-10D5-4FDD-9160-2532306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7F327-FBD0-44A0-8153-43C8579C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E47765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E4776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E9DE1-C4B1-4E5B-8D22-5474ECF2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8617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查看结果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E7669-7A44-4463-B86D-6F72F9D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48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分群反馈、触发维度、风险与建议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FFA7D-D985-4A91-8975-1C3F02B1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支持规则模式离线运行，LLM 只提升表达和生成质量。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BD141-498B-4190-AA7D-26EF2F7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EDF94-CB9D-4466-89F9-CF78B08E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77C09-B65B-424E-A028-FF18252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5418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D66BD-120B-4413-BDB5-B5C17B92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07｜验证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CF67A-460D-4F9D-A396-6CBB0BE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先卖“研究效率”，再证明模型价值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C47B1-34A1-435D-B5FC-1AA0B55D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价值验证分两条线：客户是否愿意使用，模拟是否能帮助客户做出更好决策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40428-8D61-4BFB-8AD1-9F191FD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86494-3FFC-45FA-962C-FABCD2AB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客户价值验证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015EF-0498-4016-B5FD-2C0E557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访谈 10 个产品/内容/研究团队</a:t>
            </a:r>
          </a:p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确认他们现在如何测试用户反应、成本在哪里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E2722-2DDE-445B-9FAA-ABCC209C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9DB3B-BA73-4702-A3FB-9DBD3EF4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产品使用验证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DC96B-DE9E-4586-9F0C-80C6B08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让 3–5 个团队用同一组方案完成测试</a:t>
            </a:r>
          </a:p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记录是否节省研究准备时间、是否产生新假设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C7902-8366-4AC7-918A-F7556E4D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1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66403-D530-4205-BD98-52099189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模型质量验证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7D306-DAD9-4D0B-9BAB-7C46A28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邀请领域专家和真实用户审核 Persona、场景和反应</a:t>
            </a:r>
          </a:p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所有输出标注信心等级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87A1A-2CAD-448A-94E7-72B0ABB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0B5AD-2D6A-4146-9DD2-26498F9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行为结果验证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D186B-602A-4BB4-8F20-040B54A3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76675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比较沙盘判断与后续访谈、原型测试或 A/B 结果</a:t>
            </a:r>
          </a:p>
          <a:p xmlns:a="http://schemas.openxmlformats.org/drawingml/2006/main">
            <a:pPr>
              <a:defRPr sz="1050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持续修正维度库和规则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B3AB4-2C6A-4720-AF57-2D0ED184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6F8BE-8AE1-41B6-8F21-F5924A4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EB2BC-DCF1-42EE-90C8-1EE95166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2153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C8E3E-24C5-4B0B-BE95-0EEB6F16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C8A8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C8A87"/>
                </a:solidFill>
                <a:latin typeface="Aptos"/>
                <a:ea typeface="Aptos"/>
                <a:cs typeface="Aptos"/>
              </a:rPr>
              <a:t>08｜商业模式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B5B38-4B6B-4106-BC84-F9CF5E4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从垂直案例切入，扩展为通用研究基础设施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9029C-517A-4CED-A7BF-7B6D6F92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抚心帮助验证第一套数据和方法，沙盘产品服务更多需要用户洞察的团队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8FFEC-38D6-4DB6-A373-82DED41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238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8F327-F36B-4815-A559-B9A9EF6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95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个人/小团队版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6191E-A71A-4BC1-8729-D87D1F2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按月订阅</a:t>
            </a:r>
          </a:p>
          <a:p xmlns:a="http://schemas.openxmlformats.org/drawingml/2006/main">
            <a:pPr>
              <a:defRPr sz="112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基础 Persona 与方案测试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4276B-154F-4459-A00A-481C202F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238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1B70B-CE75-493E-9D97-FCE0A7E5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71750"/>
            <a:ext cx="1895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专业研究版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A3648-8A6D-4A00-80F8-85AC93B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团队订阅</a:t>
            </a:r>
          </a:p>
          <a:p xmlns:a="http://schemas.openxmlformats.org/drawingml/2006/main">
            <a:pPr>
              <a:defRPr sz="1125" b="0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资料管理、版本和评估集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229D7-BCAA-43DA-BD2E-4E9A9F8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238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0798C-386D-456C-A739-CBFB574A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895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企业/机构版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D7CB2-CDB2-4237-AE9D-E6D6157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项目制或年度合同</a:t>
            </a:r>
          </a:p>
          <a:p xmlns:a="http://schemas.openxmlformats.org/drawingml/2006/main">
            <a:pPr>
              <a:defRPr sz="112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私有数据、权限与定制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60E08-B620-474D-91C9-FF86D394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238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13799-4A02-4AF2-A2C9-F347D524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71750"/>
            <a:ext cx="1895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B4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73B4D"/>
                </a:solidFill>
                <a:latin typeface="Aptos"/>
                <a:ea typeface="Aptos"/>
                <a:cs typeface="Aptos"/>
              </a:rPr>
              <a:t>专业服务生态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C45BF-ABCA-4CBE-825B-A3EBFE8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咨询公司、研究机构</a:t>
            </a:r>
          </a:p>
          <a:p xmlns:a="http://schemas.openxmlformats.org/drawingml/2006/main">
            <a:pPr>
              <a:defRPr sz="1125" b="0" i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7252D"/>
                </a:solidFill>
                <a:latin typeface="Aptos"/>
                <a:ea typeface="Aptos"/>
                <a:cs typeface="Aptos"/>
              </a:rPr>
              <a:t>用沙盘提升交付能力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8E270-1213-40B9-A712-B684D85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B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EDFB0-A3C0-41F1-AF15-8A859F3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53025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壁垒来自：结构化研究资产 + 可追溯 Persona + 持续校准的评估数据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51D46-A532-4203-AAD8-1CC81880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22096-85EF-4E3D-A29D-E39DD2D7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消费者心智沙盘｜独立研究与策略工具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4130B-802D-48E1-9A69-4C47572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7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7476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3237F-3AB8-48BB-971D-3E5F497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09｜路线图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3B84A-618A-4A54-A939-44FBBC47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先做一个垂直案例，证明沙盘能改变决策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C0FB1-49F6-477E-904B-E7B0732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238375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2C8A8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F7142-865E-4357-90B7-0A1F388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阶段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D0909-7307-46F4-BEC8-A10A600D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抚心案例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10–15 个维度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5–10 个 Persona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A47A7-B0A5-49A0-A461-C756E86A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238375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F030-AFAA-49C4-BED1-720654A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阶段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1C7DF-092C-4068-9A82-232D9AD2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3–5 个团队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测试文案与功能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建立评估集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CA02E-C95F-47A5-8FA4-AB7AE716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238375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E690E-3A26-4763-BDBF-7015FCC3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阶段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4C55D-F537-4F86-BA07-1353B371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通用工作台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支持多行业维度库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团队协作与版本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3B2E1-6531-49B9-93AD-B5B7CFF7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238375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2854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D4CBD-D5BD-41F1-91E8-842EEBB1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阶段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0B56C-4849-4A7C-A190-EA9589D0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研究基础设施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连接真实行为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持续校准模型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6DB80-9E68-4CAE-AB6A-A460993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E8F4F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8F4F1"/>
                </a:solidFill>
                <a:latin typeface="Aptos"/>
                <a:ea typeface="Aptos"/>
                <a:cs typeface="Aptos"/>
              </a:rPr>
              <a:t>第一步：把研究资料变成可运行的维度库，并完成 20 条方案测试。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6F74C-7D59-4978-8DA9-9328F450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沙盘不取代真实研究，它让真实研究更聚焦、更便宜、更容易复用。</a:t>
            </a:r>
          </a:p>
        </p:txBody>
      </p:sp>
    </p:spTree>
    <p:extLst>
      <p:ext uri="{BB962C8B-B14F-4D97-AF65-F5344CB8AC3E}">
        <p14:creationId xmlns:p14="http://schemas.microsoft.com/office/powerpoint/2010/main" val="278353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2026-09-10T09:15:05.5350000Z</dcterms:created>
  <dcterms:modified xsi:type="dcterms:W3CDTF">2026-09-10T09:15:05.5350000Z</dcterms:modified>
</coreProperties>
</file>